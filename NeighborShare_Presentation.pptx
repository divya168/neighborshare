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-457200" y="-731520"/>
            <a:ext cx="4572000" cy="4572000"/>
          </a:xfrm>
          <a:prstGeom prst="ellipse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>
                <a:alpha val="7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0B0B14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65760" y="29260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2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MICRO-SAAS  ·  LOCAL CIRCULAR ECONOMY  ·  HACKATHON 2026</a:t>
            </a:r>
            <a:endParaRPr lang="en-US" sz="650" dirty="0"/>
          </a:p>
        </p:txBody>
      </p:sp>
      <p:sp>
        <p:nvSpPr>
          <p:cNvPr id="152" name="Shape 150"/>
          <p:cNvSpPr/>
          <p:nvPr/>
        </p:nvSpPr>
        <p:spPr>
          <a:xfrm>
            <a:off x="365760" y="640080"/>
            <a:ext cx="713232" cy="713232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365760" y="621792"/>
            <a:ext cx="713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0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2400" dirty="0"/>
          </a:p>
        </p:txBody>
      </p:sp>
      <p:sp>
        <p:nvSpPr>
          <p:cNvPr id="154" name="Text 152"/>
          <p:cNvSpPr/>
          <p:nvPr/>
        </p:nvSpPr>
        <p:spPr>
          <a:xfrm>
            <a:off x="365760" y="146304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NeighborShare</a:t>
            </a:r>
            <a:endParaRPr lang="en-US" sz="4600" dirty="0"/>
          </a:p>
        </p:txBody>
      </p:sp>
      <p:sp>
        <p:nvSpPr>
          <p:cNvPr id="155" name="Text 153"/>
          <p:cNvSpPr/>
          <p:nvPr/>
        </p:nvSpPr>
        <p:spPr>
          <a:xfrm>
            <a:off x="365760" y="21579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More. Buy Less. Live Better.</a:t>
            </a:r>
            <a:endParaRPr lang="en-US" sz="1400" dirty="0"/>
          </a:p>
        </p:txBody>
      </p:sp>
      <p:sp>
        <p:nvSpPr>
          <p:cNvPr id="156" name="Text 154"/>
          <p:cNvSpPr/>
          <p:nvPr/>
        </p:nvSpPr>
        <p:spPr>
          <a:xfrm>
            <a:off x="365760" y="2578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hyper-local platform where neighbors borrow tools, lend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appliances &amp; exchange skills — all within a 2km radius.</a:t>
            </a:r>
            <a:endParaRPr lang="en-US" sz="1150" dirty="0"/>
          </a:p>
        </p:txBody>
      </p:sp>
      <p:sp>
        <p:nvSpPr>
          <p:cNvPr id="157" name="Shape 155"/>
          <p:cNvSpPr/>
          <p:nvPr/>
        </p:nvSpPr>
        <p:spPr>
          <a:xfrm>
            <a:off x="365760" y="3255264"/>
            <a:ext cx="808330" cy="228600"/>
          </a:xfrm>
          <a:prstGeom prst="roundRect">
            <a:avLst>
              <a:gd name="adj" fmla="val 16000"/>
            </a:avLst>
          </a:prstGeom>
          <a:solidFill>
            <a:srgbClr val="00FF88">
              <a:alpha val="13000"/>
            </a:srgbClr>
          </a:solidFill>
          <a:ln w="12700">
            <a:solidFill>
              <a:srgbClr val="00FF88">
                <a:alpha val="55000"/>
              </a:srgbClr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65760" y="3246120"/>
            <a:ext cx="8083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1265530" y="3255264"/>
            <a:ext cx="892454" cy="228600"/>
          </a:xfrm>
          <a:prstGeom prst="roundRect">
            <a:avLst>
              <a:gd name="adj" fmla="val 16000"/>
            </a:avLst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265530" y="3246120"/>
            <a:ext cx="8924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2249424" y="3255264"/>
            <a:ext cx="976579" cy="228600"/>
          </a:xfrm>
          <a:prstGeom prst="roundRect">
            <a:avLst>
              <a:gd name="adj" fmla="val 16000"/>
            </a:avLst>
          </a:prstGeom>
          <a:solidFill>
            <a:srgbClr val="BF5AF2">
              <a:alpha val="13000"/>
            </a:srgbClr>
          </a:solidFill>
          <a:ln w="12700">
            <a:solidFill>
              <a:srgbClr val="BF5AF2">
                <a:alpha val="5500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249424" y="3246120"/>
            <a:ext cx="9765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AI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3317443" y="3255264"/>
            <a:ext cx="892454" cy="228600"/>
          </a:xfrm>
          <a:prstGeom prst="roundRect">
            <a:avLst>
              <a:gd name="adj" fmla="val 16000"/>
            </a:avLst>
          </a:prstGeom>
          <a:solidFill>
            <a:srgbClr val="FFD60A">
              <a:alpha val="13000"/>
            </a:srgbClr>
          </a:solidFill>
          <a:ln w="12700">
            <a:solidFill>
              <a:srgbClr val="FFD60A">
                <a:alpha val="5500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3317443" y="3246120"/>
            <a:ext cx="89245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Razorpay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4301338" y="3255264"/>
            <a:ext cx="555955" cy="228600"/>
          </a:xfrm>
          <a:prstGeom prst="roundRect">
            <a:avLst>
              <a:gd name="adj" fmla="val 16000"/>
            </a:avLst>
          </a:prstGeom>
          <a:solidFill>
            <a:srgbClr val="00D4FF">
              <a:alpha val="13000"/>
            </a:srgbClr>
          </a:solidFill>
          <a:ln w="12700">
            <a:solidFill>
              <a:srgbClr val="00D4FF">
                <a:alpha val="55000"/>
              </a:srgbClr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4301338" y="3246120"/>
            <a:ext cx="55595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Maps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365760" y="3730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12K+</a:t>
            </a:r>
            <a:endParaRPr lang="en-US" sz="2000" dirty="0"/>
          </a:p>
        </p:txBody>
      </p:sp>
      <p:sp>
        <p:nvSpPr>
          <p:cNvPr id="168" name="Text 166"/>
          <p:cNvSpPr/>
          <p:nvPr/>
        </p:nvSpPr>
        <p:spPr>
          <a:xfrm>
            <a:off x="36576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Sharers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1783080" y="3730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45K+</a:t>
            </a:r>
            <a:endParaRPr lang="en-US" sz="2000" dirty="0"/>
          </a:p>
        </p:txBody>
      </p:sp>
      <p:sp>
        <p:nvSpPr>
          <p:cNvPr id="170" name="Text 168"/>
          <p:cNvSpPr/>
          <p:nvPr/>
        </p:nvSpPr>
        <p:spPr>
          <a:xfrm>
            <a:off x="178308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Shared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3200400" y="3730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₹2.4Cr</a:t>
            </a:r>
            <a:endParaRPr lang="en-US" sz="2000" dirty="0"/>
          </a:p>
        </p:txBody>
      </p:sp>
      <p:sp>
        <p:nvSpPr>
          <p:cNvPr id="172" name="Text 170"/>
          <p:cNvSpPr/>
          <p:nvPr/>
        </p:nvSpPr>
        <p:spPr>
          <a:xfrm>
            <a:off x="320040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Saved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4617720" y="373075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380+</a:t>
            </a:r>
            <a:endParaRPr lang="en-US" sz="2000" dirty="0"/>
          </a:p>
        </p:txBody>
      </p:sp>
      <p:sp>
        <p:nvSpPr>
          <p:cNvPr id="174" name="Text 172"/>
          <p:cNvSpPr/>
          <p:nvPr/>
        </p:nvSpPr>
        <p:spPr>
          <a:xfrm>
            <a:off x="4617720" y="40599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Neighborhoods</a:t>
            </a:r>
            <a:endParaRPr lang="en-US" sz="750" dirty="0"/>
          </a:p>
        </p:txBody>
      </p:sp>
      <p:sp>
        <p:nvSpPr>
          <p:cNvPr id="175" name="Text 173"/>
          <p:cNvSpPr/>
          <p:nvPr/>
        </p:nvSpPr>
        <p:spPr>
          <a:xfrm>
            <a:off x="6126480" y="6583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300" kern="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PRESENTED BY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6812280" y="987552"/>
            <a:ext cx="1005840" cy="1005840"/>
          </a:xfrm>
          <a:prstGeom prst="ellipse">
            <a:avLst/>
          </a:prstGeom>
          <a:solidFill>
            <a:srgbClr val="1A1A2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6812280" y="9875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</a:t>
            </a:r>
            <a:endParaRPr lang="en-US" sz="2600" dirty="0"/>
          </a:p>
        </p:txBody>
      </p:sp>
      <p:sp>
        <p:nvSpPr>
          <p:cNvPr id="178" name="Text 176"/>
          <p:cNvSpPr/>
          <p:nvPr/>
        </p:nvSpPr>
        <p:spPr>
          <a:xfrm>
            <a:off x="6126480" y="2148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Divya Singh</a:t>
            </a:r>
            <a:endParaRPr lang="en-US" sz="2000" dirty="0"/>
          </a:p>
        </p:txBody>
      </p:sp>
      <p:sp>
        <p:nvSpPr>
          <p:cNvPr id="179" name="Text 177"/>
          <p:cNvSpPr/>
          <p:nvPr/>
        </p:nvSpPr>
        <p:spPr>
          <a:xfrm>
            <a:off x="6126480" y="257860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Full-Stack Developer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6720840" y="2944368"/>
            <a:ext cx="1188720" cy="18288"/>
          </a:xfrm>
          <a:prstGeom prst="rect">
            <a:avLst/>
          </a:prstGeom>
          <a:solidFill>
            <a:srgbClr val="1E1E2C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126480" y="30540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neighborshare.vercel.app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6126480" y="338328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Built for Bharat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6126480" y="37033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FF453A">
              <a:alpha val="40000"/>
            </a:srgbClr>
          </a:solidFill>
          <a:ln w="12700">
            <a:solidFill>
              <a:srgbClr val="FF453A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FFD60A">
              <a:alpha val="6000"/>
            </a:srgbClr>
          </a:solidFill>
          <a:ln w="12700">
            <a:solidFill>
              <a:srgbClr val="FFD60A">
                <a:alpha val="6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07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FF4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live 3 metres apart,</a:t>
            </a:r>
            <a:endParaRPr lang="en-US" sz="3400" dirty="0"/>
          </a:p>
        </p:txBody>
      </p:sp>
      <p:sp>
        <p:nvSpPr>
          <p:cNvPr id="152" name="Text 150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4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yet buy the same drill twice.</a:t>
            </a:r>
            <a:endParaRPr lang="en-US" sz="3400" dirty="0"/>
          </a:p>
        </p:txBody>
      </p:sp>
      <p:sp>
        <p:nvSpPr>
          <p:cNvPr id="153" name="Shape 151"/>
          <p:cNvSpPr/>
          <p:nvPr/>
        </p:nvSpPr>
        <p:spPr>
          <a:xfrm>
            <a:off x="365760" y="1719072"/>
            <a:ext cx="2697480" cy="1874520"/>
          </a:xfrm>
          <a:prstGeom prst="rect">
            <a:avLst/>
          </a:prstGeom>
          <a:solidFill>
            <a:srgbClr val="13131E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5760" y="1719072"/>
            <a:ext cx="54864" cy="1874520"/>
          </a:xfrm>
          <a:prstGeom prst="rect">
            <a:avLst/>
          </a:prstGeom>
          <a:solidFill>
            <a:srgbClr val="FF453A"/>
          </a:solidFill>
          <a:ln w="12700">
            <a:solidFill>
              <a:srgbClr val="FF453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3035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56" name="Text 154"/>
          <p:cNvSpPr/>
          <p:nvPr/>
        </p:nvSpPr>
        <p:spPr>
          <a:xfrm>
            <a:off x="530352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45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₹18,000</a:t>
            </a:r>
            <a:endParaRPr lang="en-US" sz="2800" dirty="0"/>
          </a:p>
        </p:txBody>
      </p:sp>
      <p:sp>
        <p:nvSpPr>
          <p:cNvPr id="157" name="Text 155"/>
          <p:cNvSpPr/>
          <p:nvPr/>
        </p:nvSpPr>
        <p:spPr>
          <a:xfrm>
            <a:off x="530352" y="26151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household/year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items used &lt; 5 times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3246120" y="1719072"/>
            <a:ext cx="2697480" cy="1874520"/>
          </a:xfrm>
          <a:prstGeom prst="rect">
            <a:avLst/>
          </a:prstGeom>
          <a:solidFill>
            <a:srgbClr val="13131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246120" y="1719072"/>
            <a:ext cx="54864" cy="18745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41071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61" name="Text 159"/>
          <p:cNvSpPr/>
          <p:nvPr/>
        </p:nvSpPr>
        <p:spPr>
          <a:xfrm>
            <a:off x="3410712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62%</a:t>
            </a:r>
            <a:endParaRPr lang="en-US" sz="2800" dirty="0"/>
          </a:p>
        </p:txBody>
      </p:sp>
      <p:sp>
        <p:nvSpPr>
          <p:cNvPr id="162" name="Text 160"/>
          <p:cNvSpPr/>
          <p:nvPr/>
        </p:nvSpPr>
        <p:spPr>
          <a:xfrm>
            <a:off x="3410712" y="26151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urban families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sharing-ready colonies</a:t>
            </a:r>
            <a:endParaRPr lang="en-US" sz="950" dirty="0"/>
          </a:p>
        </p:txBody>
      </p:sp>
      <p:sp>
        <p:nvSpPr>
          <p:cNvPr id="163" name="Shape 161"/>
          <p:cNvSpPr/>
          <p:nvPr/>
        </p:nvSpPr>
        <p:spPr>
          <a:xfrm>
            <a:off x="6126480" y="1719072"/>
            <a:ext cx="2697480" cy="187452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126480" y="1719072"/>
            <a:ext cx="54864" cy="18745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291072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166" name="Text 164"/>
          <p:cNvSpPr/>
          <p:nvPr/>
        </p:nvSpPr>
        <p:spPr>
          <a:xfrm>
            <a:off x="6291072" y="21579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800" dirty="0"/>
          </a:p>
        </p:txBody>
      </p:sp>
      <p:sp>
        <p:nvSpPr>
          <p:cNvPr id="167" name="Text 165"/>
          <p:cNvSpPr/>
          <p:nvPr/>
        </p:nvSpPr>
        <p:spPr>
          <a:xfrm>
            <a:off x="6291072" y="26151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built specifically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colony-level sharing in India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365760" y="3749040"/>
            <a:ext cx="8549640" cy="548640"/>
          </a:xfrm>
          <a:prstGeom prst="rect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02920" y="3749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If just 10% of urban households shared idle items — collective savings would exceed  ₹40,000 Crore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FF88">
              <a:alpha val="7000"/>
            </a:srgbClr>
          </a:solidFill>
          <a:ln w="12700">
            <a:solidFill>
              <a:srgbClr val="00FF88">
                <a:alpha val="7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07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NeighborShare turns your colony into</a:t>
            </a:r>
            <a:endParaRPr lang="en-US" sz="3000" dirty="0"/>
          </a:p>
        </p:txBody>
      </p:sp>
      <p:sp>
        <p:nvSpPr>
          <p:cNvPr id="152" name="Text 150"/>
          <p:cNvSpPr/>
          <p:nvPr/>
        </p:nvSpPr>
        <p:spPr>
          <a:xfrm>
            <a:off x="365760" y="95097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self-sustaining sharing network.</a:t>
            </a:r>
            <a:endParaRPr lang="en-US" sz="3000" dirty="0"/>
          </a:p>
        </p:txBody>
      </p:sp>
      <p:sp>
        <p:nvSpPr>
          <p:cNvPr id="153" name="Shape 151"/>
          <p:cNvSpPr/>
          <p:nvPr/>
        </p:nvSpPr>
        <p:spPr>
          <a:xfrm>
            <a:off x="365760" y="1609344"/>
            <a:ext cx="1572768" cy="192024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5760" y="1609344"/>
            <a:ext cx="1572768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877824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57" name="Text 155"/>
          <p:cNvSpPr/>
          <p:nvPr/>
        </p:nvSpPr>
        <p:spPr>
          <a:xfrm>
            <a:off x="457200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Colony</a:t>
            </a:r>
            <a:endParaRPr lang="en-US" sz="1200" dirty="0"/>
          </a:p>
        </p:txBody>
      </p:sp>
      <p:sp>
        <p:nvSpPr>
          <p:cNvPr id="158" name="Text 156"/>
          <p:cNvSpPr/>
          <p:nvPr/>
        </p:nvSpPr>
        <p:spPr>
          <a:xfrm>
            <a:off x="457200" y="23957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950" dirty="0"/>
          </a:p>
        </p:txBody>
      </p:sp>
      <p:sp>
        <p:nvSpPr>
          <p:cNvPr id="159" name="Text 157"/>
          <p:cNvSpPr/>
          <p:nvPr/>
        </p:nvSpPr>
        <p:spPr>
          <a:xfrm>
            <a:off x="1938528" y="23774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→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2066544" y="1609344"/>
            <a:ext cx="1572768" cy="1920240"/>
          </a:xfrm>
          <a:prstGeom prst="rect">
            <a:avLst/>
          </a:prstGeom>
          <a:solidFill>
            <a:srgbClr val="1313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066544" y="1609344"/>
            <a:ext cx="1572768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157984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2578608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64" name="Text 162"/>
          <p:cNvSpPr/>
          <p:nvPr/>
        </p:nvSpPr>
        <p:spPr>
          <a:xfrm>
            <a:off x="2157984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Item</a:t>
            </a:r>
            <a:endParaRPr lang="en-US" sz="1200" dirty="0"/>
          </a:p>
        </p:txBody>
      </p:sp>
      <p:sp>
        <p:nvSpPr>
          <p:cNvPr id="165" name="Text 163"/>
          <p:cNvSpPr/>
          <p:nvPr/>
        </p:nvSpPr>
        <p:spPr>
          <a:xfrm>
            <a:off x="2157984" y="23957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your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desc</a:t>
            </a:r>
            <a:endParaRPr lang="en-US" sz="950" dirty="0"/>
          </a:p>
        </p:txBody>
      </p:sp>
      <p:sp>
        <p:nvSpPr>
          <p:cNvPr id="166" name="Text 164"/>
          <p:cNvSpPr/>
          <p:nvPr/>
        </p:nvSpPr>
        <p:spPr>
          <a:xfrm>
            <a:off x="3639312" y="23774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→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3767328" y="1609344"/>
            <a:ext cx="1572768" cy="1920240"/>
          </a:xfrm>
          <a:prstGeom prst="rect">
            <a:avLst/>
          </a:prstGeom>
          <a:solidFill>
            <a:srgbClr val="13131E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767328" y="1609344"/>
            <a:ext cx="1572768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3858768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  <p:sp>
        <p:nvSpPr>
          <p:cNvPr id="170" name="Text 168"/>
          <p:cNvSpPr/>
          <p:nvPr/>
        </p:nvSpPr>
        <p:spPr>
          <a:xfrm>
            <a:off x="4279392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1" name="Text 169"/>
          <p:cNvSpPr/>
          <p:nvPr/>
        </p:nvSpPr>
        <p:spPr>
          <a:xfrm>
            <a:off x="3858768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 &amp; Find</a:t>
            </a:r>
            <a:endParaRPr lang="en-US" sz="1200" dirty="0"/>
          </a:p>
        </p:txBody>
      </p:sp>
      <p:sp>
        <p:nvSpPr>
          <p:cNvPr id="172" name="Text 170"/>
          <p:cNvSpPr/>
          <p:nvPr/>
        </p:nvSpPr>
        <p:spPr>
          <a:xfrm>
            <a:off x="3858768" y="23957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live map</a:t>
            </a:r>
            <a:endParaRPr lang="en-US" sz="950" dirty="0"/>
          </a:p>
        </p:txBody>
      </p:sp>
      <p:sp>
        <p:nvSpPr>
          <p:cNvPr id="173" name="Text 171"/>
          <p:cNvSpPr/>
          <p:nvPr/>
        </p:nvSpPr>
        <p:spPr>
          <a:xfrm>
            <a:off x="5340096" y="23774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→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5468112" y="1609344"/>
            <a:ext cx="1572768" cy="1920240"/>
          </a:xfrm>
          <a:prstGeom prst="rect">
            <a:avLst/>
          </a:prstGeom>
          <a:solidFill>
            <a:srgbClr val="13131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468112" y="1609344"/>
            <a:ext cx="1572768" cy="548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5559552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5980176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78" name="Text 176"/>
          <p:cNvSpPr/>
          <p:nvPr/>
        </p:nvSpPr>
        <p:spPr>
          <a:xfrm>
            <a:off x="5559552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&amp; Borrow</a:t>
            </a:r>
            <a:endParaRPr lang="en-US" sz="1200" dirty="0"/>
          </a:p>
        </p:txBody>
      </p:sp>
      <p:sp>
        <p:nvSpPr>
          <p:cNvPr id="179" name="Text 177"/>
          <p:cNvSpPr/>
          <p:nvPr/>
        </p:nvSpPr>
        <p:spPr>
          <a:xfrm>
            <a:off x="5559552" y="23957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safety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7040880" y="237744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77"/>
                </a:solidFill>
              </a:rPr>
              <a:t>→</a:t>
            </a:r>
            <a:endParaRPr lang="en-US" sz="1000" dirty="0"/>
          </a:p>
        </p:txBody>
      </p:sp>
      <p:sp>
        <p:nvSpPr>
          <p:cNvPr id="181" name="Shape 179"/>
          <p:cNvSpPr/>
          <p:nvPr/>
        </p:nvSpPr>
        <p:spPr>
          <a:xfrm>
            <a:off x="7168896" y="1609344"/>
            <a:ext cx="1572768" cy="192024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68896" y="1609344"/>
            <a:ext cx="1572768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260336" y="173736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  <p:sp>
        <p:nvSpPr>
          <p:cNvPr id="184" name="Text 182"/>
          <p:cNvSpPr/>
          <p:nvPr/>
        </p:nvSpPr>
        <p:spPr>
          <a:xfrm>
            <a:off x="7680960" y="16824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185" name="Text 183"/>
          <p:cNvSpPr/>
          <p:nvPr/>
        </p:nvSpPr>
        <p:spPr>
          <a:xfrm>
            <a:off x="7260336" y="210312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Return &amp; Rate</a:t>
            </a:r>
            <a:endParaRPr lang="en-US" sz="1200" dirty="0"/>
          </a:p>
        </p:txBody>
      </p:sp>
      <p:sp>
        <p:nvSpPr>
          <p:cNvPr id="186" name="Text 184"/>
          <p:cNvSpPr/>
          <p:nvPr/>
        </p:nvSpPr>
        <p:spPr>
          <a:xfrm>
            <a:off x="7260336" y="239572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</a:t>
            </a:r>
            <a:endParaRPr lang="en-US" sz="950" dirty="0"/>
          </a:p>
        </p:txBody>
      </p:sp>
      <p:sp>
        <p:nvSpPr>
          <p:cNvPr id="187" name="Shape 185"/>
          <p:cNvSpPr/>
          <p:nvPr/>
        </p:nvSpPr>
        <p:spPr>
          <a:xfrm>
            <a:off x="365760" y="3703320"/>
            <a:ext cx="2697480" cy="685800"/>
          </a:xfrm>
          <a:prstGeom prst="rect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475488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🏘️ Colony-Locked</a:t>
            </a:r>
            <a:endParaRPr lang="en-US" sz="1000" dirty="0"/>
          </a:p>
        </p:txBody>
      </p:sp>
      <p:sp>
        <p:nvSpPr>
          <p:cNvPr id="189" name="Text 187"/>
          <p:cNvSpPr/>
          <p:nvPr/>
        </p:nvSpPr>
        <p:spPr>
          <a:xfrm>
            <a:off x="475488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verified neighbors see your listings. Real trust, not random strangers.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246120" y="3703320"/>
            <a:ext cx="2697480" cy="685800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355848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AI-Powered</a:t>
            </a:r>
            <a:endParaRPr lang="en-US" sz="1000" dirty="0"/>
          </a:p>
        </p:txBody>
      </p:sp>
      <p:sp>
        <p:nvSpPr>
          <p:cNvPr id="192" name="Text 190"/>
          <p:cNvSpPr/>
          <p:nvPr/>
        </p:nvSpPr>
        <p:spPr>
          <a:xfrm>
            <a:off x="3355848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listings, answers smart searches &amp; suggests fair prices.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126480" y="3703320"/>
            <a:ext cx="2697480" cy="685800"/>
          </a:xfrm>
          <a:prstGeom prst="rect">
            <a:avLst/>
          </a:prstGeom>
          <a:solidFill>
            <a:srgbClr val="BF5AF2">
              <a:alpha val="10000"/>
            </a:srgbClr>
          </a:solidFill>
          <a:ln w="12700">
            <a:solidFill>
              <a:srgbClr val="BF5AF2">
                <a:alpha val="45000"/>
              </a:srgbClr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6236208" y="37490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5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Escrow Safe</a:t>
            </a:r>
            <a:endParaRPr lang="en-US" sz="1000" dirty="0"/>
          </a:p>
        </p:txBody>
      </p:sp>
      <p:sp>
        <p:nvSpPr>
          <p:cNvPr id="195" name="Text 193"/>
          <p:cNvSpPr/>
          <p:nvPr/>
        </p:nvSpPr>
        <p:spPr>
          <a:xfrm>
            <a:off x="6236208" y="39684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holds deposit until safe return. Both sides protected.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29200" y="1828800"/>
            <a:ext cx="3657600" cy="36576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07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 &amp; WORKFLOW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stack,</a:t>
            </a:r>
            <a:endParaRPr lang="en-US" sz="3000" dirty="0"/>
          </a:p>
        </p:txBody>
      </p:sp>
      <p:sp>
        <p:nvSpPr>
          <p:cNvPr id="152" name="Text 150"/>
          <p:cNvSpPr/>
          <p:nvPr/>
        </p:nvSpPr>
        <p:spPr>
          <a:xfrm>
            <a:off x="365760" y="9235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speed.</a:t>
            </a:r>
            <a:endParaRPr lang="en-US" sz="3000" dirty="0"/>
          </a:p>
        </p:txBody>
      </p:sp>
      <p:sp>
        <p:nvSpPr>
          <p:cNvPr id="153" name="Shape 151"/>
          <p:cNvSpPr/>
          <p:nvPr/>
        </p:nvSpPr>
        <p:spPr>
          <a:xfrm>
            <a:off x="365760" y="1554480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5760" y="1554480"/>
            <a:ext cx="20116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57200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⚛️</a:t>
            </a:r>
            <a:endParaRPr lang="en-US" sz="1600" dirty="0"/>
          </a:p>
        </p:txBody>
      </p:sp>
      <p:sp>
        <p:nvSpPr>
          <p:cNvPr id="156" name="Text 154"/>
          <p:cNvSpPr/>
          <p:nvPr/>
        </p:nvSpPr>
        <p:spPr>
          <a:xfrm>
            <a:off x="822960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14</a:t>
            </a:r>
            <a:endParaRPr lang="en-US" sz="1050" dirty="0"/>
          </a:p>
        </p:txBody>
      </p:sp>
      <p:sp>
        <p:nvSpPr>
          <p:cNvPr id="157" name="Text 155"/>
          <p:cNvSpPr/>
          <p:nvPr/>
        </p:nvSpPr>
        <p:spPr>
          <a:xfrm>
            <a:off x="82296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+ SSR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2487168" y="1554480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487168" y="1554480"/>
            <a:ext cx="2011680" cy="4572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578608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161" name="Text 159"/>
          <p:cNvSpPr/>
          <p:nvPr/>
        </p:nvSpPr>
        <p:spPr>
          <a:xfrm>
            <a:off x="2944368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</a:t>
            </a:r>
            <a:endParaRPr lang="en-US" sz="1050" dirty="0"/>
          </a:p>
        </p:txBody>
      </p:sp>
      <p:sp>
        <p:nvSpPr>
          <p:cNvPr id="162" name="Text 160"/>
          <p:cNvSpPr/>
          <p:nvPr/>
        </p:nvSpPr>
        <p:spPr>
          <a:xfrm>
            <a:off x="2944368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DB + Storage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4608576" y="1554480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608576" y="155448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700016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166" name="Text 164"/>
          <p:cNvSpPr/>
          <p:nvPr/>
        </p:nvSpPr>
        <p:spPr>
          <a:xfrm>
            <a:off x="5065776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</a:t>
            </a:r>
            <a:endParaRPr lang="en-US" sz="1050" dirty="0"/>
          </a:p>
        </p:txBody>
      </p:sp>
      <p:sp>
        <p:nvSpPr>
          <p:cNvPr id="167" name="Text 165"/>
          <p:cNvSpPr/>
          <p:nvPr/>
        </p:nvSpPr>
        <p:spPr>
          <a:xfrm>
            <a:off x="5065776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+ Distance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6729984" y="1554480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29984" y="1554480"/>
            <a:ext cx="2011680" cy="4572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6821424" y="1645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171" name="Text 169"/>
          <p:cNvSpPr/>
          <p:nvPr/>
        </p:nvSpPr>
        <p:spPr>
          <a:xfrm>
            <a:off x="7187184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172" name="Text 170"/>
          <p:cNvSpPr/>
          <p:nvPr/>
        </p:nvSpPr>
        <p:spPr>
          <a:xfrm>
            <a:off x="7187184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+ Content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365760" y="2487168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5760" y="2487168"/>
            <a:ext cx="20116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5720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176" name="Text 174"/>
          <p:cNvSpPr/>
          <p:nvPr/>
        </p:nvSpPr>
        <p:spPr>
          <a:xfrm>
            <a:off x="822960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Razorpay</a:t>
            </a:r>
            <a:endParaRPr lang="en-US" sz="1050" dirty="0"/>
          </a:p>
        </p:txBody>
      </p:sp>
      <p:sp>
        <p:nvSpPr>
          <p:cNvPr id="177" name="Text 175"/>
          <p:cNvSpPr/>
          <p:nvPr/>
        </p:nvSpPr>
        <p:spPr>
          <a:xfrm>
            <a:off x="822960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Escrow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2487168" y="2487168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87168" y="2487168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57860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🎨</a:t>
            </a:r>
            <a:endParaRPr lang="en-US" sz="1600" dirty="0"/>
          </a:p>
        </p:txBody>
      </p:sp>
      <p:sp>
        <p:nvSpPr>
          <p:cNvPr id="181" name="Text 179"/>
          <p:cNvSpPr/>
          <p:nvPr/>
        </p:nvSpPr>
        <p:spPr>
          <a:xfrm>
            <a:off x="2944368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2944368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Framework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4608576" y="2487168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608576" y="2487168"/>
            <a:ext cx="2011680" cy="457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700016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86" name="Text 184"/>
          <p:cNvSpPr/>
          <p:nvPr/>
        </p:nvSpPr>
        <p:spPr>
          <a:xfrm>
            <a:off x="5065776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050" dirty="0"/>
          </a:p>
        </p:txBody>
      </p:sp>
      <p:sp>
        <p:nvSpPr>
          <p:cNvPr id="187" name="Text 185"/>
          <p:cNvSpPr/>
          <p:nvPr/>
        </p:nvSpPr>
        <p:spPr>
          <a:xfrm>
            <a:off x="5065776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Webhooks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6729984" y="2487168"/>
            <a:ext cx="2011680" cy="804672"/>
          </a:xfrm>
          <a:prstGeom prst="rect">
            <a:avLst/>
          </a:prstGeom>
          <a:solidFill>
            <a:srgbClr val="13131E"/>
          </a:solidFill>
          <a:ln w="12700">
            <a:solidFill>
              <a:srgbClr val="1E1E2C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729984" y="2487168"/>
            <a:ext cx="201168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821424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▲</a:t>
            </a:r>
            <a:endParaRPr lang="en-US" sz="1600" dirty="0"/>
          </a:p>
        </p:txBody>
      </p:sp>
      <p:sp>
        <p:nvSpPr>
          <p:cNvPr id="191" name="Text 189"/>
          <p:cNvSpPr/>
          <p:nvPr/>
        </p:nvSpPr>
        <p:spPr>
          <a:xfrm>
            <a:off x="7187184" y="25786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050" dirty="0"/>
          </a:p>
        </p:txBody>
      </p:sp>
      <p:sp>
        <p:nvSpPr>
          <p:cNvPr id="192" name="Text 190"/>
          <p:cNvSpPr/>
          <p:nvPr/>
        </p:nvSpPr>
        <p:spPr>
          <a:xfrm>
            <a:off x="7187184" y="2816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+ CDN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8887968" y="1554480"/>
            <a:ext cx="91440" cy="91440"/>
          </a:xfrm>
          <a:prstGeom prst="rect">
            <a:avLst/>
          </a:prstGeom>
          <a:solidFill>
            <a:srgbClr val="06060A"/>
          </a:solidFill>
          <a:ln w="12700">
            <a:solidFill>
              <a:srgbClr val="06060A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8887968" y="2395728"/>
            <a:ext cx="91440" cy="91440"/>
          </a:xfrm>
          <a:prstGeom prst="rect">
            <a:avLst/>
          </a:prstGeom>
          <a:solidFill>
            <a:srgbClr val="06060A"/>
          </a:solidFill>
          <a:ln w="12700">
            <a:solidFill>
              <a:srgbClr val="06060A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8887968" y="3236976"/>
            <a:ext cx="91440" cy="91440"/>
          </a:xfrm>
          <a:prstGeom prst="rect">
            <a:avLst/>
          </a:prstGeom>
          <a:solidFill>
            <a:srgbClr val="06060A"/>
          </a:solidFill>
          <a:ln w="12700">
            <a:solidFill>
              <a:srgbClr val="06060A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887968" y="4078224"/>
            <a:ext cx="91440" cy="91440"/>
          </a:xfrm>
          <a:prstGeom prst="rect">
            <a:avLst/>
          </a:prstGeom>
          <a:solidFill>
            <a:srgbClr val="06060A"/>
          </a:solidFill>
          <a:ln w="12700">
            <a:solidFill>
              <a:srgbClr val="06060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65760" y="3858768"/>
            <a:ext cx="1572768" cy="475488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20624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Join Colony</a:t>
            </a:r>
            <a:endParaRPr lang="en-US" sz="900" dirty="0"/>
          </a:p>
        </p:txBody>
      </p:sp>
      <p:sp>
        <p:nvSpPr>
          <p:cNvPr id="199" name="Text 197"/>
          <p:cNvSpPr/>
          <p:nvPr/>
        </p:nvSpPr>
        <p:spPr>
          <a:xfrm>
            <a:off x="1938528" y="39319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→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2066544" y="3858768"/>
            <a:ext cx="1572768" cy="475488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121408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List + AI Desc</a:t>
            </a:r>
            <a:endParaRPr lang="en-US" sz="900" dirty="0"/>
          </a:p>
        </p:txBody>
      </p:sp>
      <p:sp>
        <p:nvSpPr>
          <p:cNvPr id="202" name="Text 200"/>
          <p:cNvSpPr/>
          <p:nvPr/>
        </p:nvSpPr>
        <p:spPr>
          <a:xfrm>
            <a:off x="3639312" y="39319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→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3767328" y="3858768"/>
            <a:ext cx="1572768" cy="475488"/>
          </a:xfrm>
          <a:prstGeom prst="rect">
            <a:avLst/>
          </a:prstGeom>
          <a:solidFill>
            <a:srgbClr val="BF5AF2">
              <a:alpha val="12000"/>
            </a:srgbClr>
          </a:solidFill>
          <a:ln w="12700">
            <a:solidFill>
              <a:srgbClr val="BF5AF2">
                <a:alpha val="50000"/>
              </a:srgbClr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3822192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Browse + Map</a:t>
            </a:r>
            <a:endParaRPr lang="en-US" sz="900" dirty="0"/>
          </a:p>
        </p:txBody>
      </p:sp>
      <p:sp>
        <p:nvSpPr>
          <p:cNvPr id="205" name="Text 203"/>
          <p:cNvSpPr/>
          <p:nvPr/>
        </p:nvSpPr>
        <p:spPr>
          <a:xfrm>
            <a:off x="5340096" y="39319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→</a:t>
            </a:r>
            <a:endParaRPr lang="en-US" sz="900" dirty="0"/>
          </a:p>
        </p:txBody>
      </p:sp>
      <p:sp>
        <p:nvSpPr>
          <p:cNvPr id="206" name="Shape 204"/>
          <p:cNvSpPr/>
          <p:nvPr/>
        </p:nvSpPr>
        <p:spPr>
          <a:xfrm>
            <a:off x="5468112" y="3858768"/>
            <a:ext cx="1572768" cy="475488"/>
          </a:xfrm>
          <a:prstGeom prst="rect">
            <a:avLst/>
          </a:prstGeom>
          <a:solidFill>
            <a:srgbClr val="FFD60A">
              <a:alpha val="12000"/>
            </a:srgbClr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5522976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Pay Escrow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7040880" y="39319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77"/>
                </a:solidFill>
              </a:rPr>
              <a:t>→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7168896" y="3858768"/>
            <a:ext cx="1572768" cy="475488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223760" y="385876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Return + Rate</a:t>
            </a:r>
            <a:endParaRPr lang="en-US" sz="900" dirty="0"/>
          </a:p>
        </p:txBody>
      </p:sp>
      <p:sp>
        <p:nvSpPr>
          <p:cNvPr id="211" name="Text 209"/>
          <p:cNvSpPr/>
          <p:nvPr/>
        </p:nvSpPr>
        <p:spPr>
          <a:xfrm>
            <a:off x="365760" y="4443984"/>
            <a:ext cx="8549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Journey — from onboarding to earning, all in one app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BF5AF2">
              <a:alpha val="40000"/>
            </a:srgbClr>
          </a:solidFill>
          <a:ln w="12700">
            <a:solidFill>
              <a:srgbClr val="BF5AF2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-914400" y="3200400"/>
            <a:ext cx="4114800" cy="4114800"/>
          </a:xfrm>
          <a:prstGeom prst="ellipse">
            <a:avLst/>
          </a:prstGeom>
          <a:solidFill>
            <a:srgbClr val="BF5AF2">
              <a:alpha val="6000"/>
            </a:srgbClr>
          </a:solidFill>
          <a:ln w="12700">
            <a:solidFill>
              <a:srgbClr val="BF5AF2">
                <a:alpha val="6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07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&amp; CHALLENGES SOLVED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with intelligence</a:t>
            </a:r>
            <a:endParaRPr lang="en-US" sz="3000" dirty="0"/>
          </a:p>
        </p:txBody>
      </p:sp>
      <p:sp>
        <p:nvSpPr>
          <p:cNvPr id="152" name="Text 150"/>
          <p:cNvSpPr/>
          <p:nvPr/>
        </p:nvSpPr>
        <p:spPr>
          <a:xfrm>
            <a:off x="365760" y="9235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5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every touchpoint.</a:t>
            </a:r>
            <a:endParaRPr lang="en-US" sz="3000" dirty="0"/>
          </a:p>
        </p:txBody>
      </p:sp>
      <p:sp>
        <p:nvSpPr>
          <p:cNvPr id="153" name="Shape 151"/>
          <p:cNvSpPr/>
          <p:nvPr/>
        </p:nvSpPr>
        <p:spPr>
          <a:xfrm>
            <a:off x="365760" y="1572768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5760" y="1572768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02920" y="170078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156" name="Text 154"/>
          <p:cNvSpPr/>
          <p:nvPr/>
        </p:nvSpPr>
        <p:spPr>
          <a:xfrm>
            <a:off x="868680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Neighborhood Map</a:t>
            </a:r>
            <a:endParaRPr lang="en-US" sz="1050" dirty="0"/>
          </a:p>
        </p:txBody>
      </p:sp>
      <p:sp>
        <p:nvSpPr>
          <p:cNvPr id="157" name="Text 155"/>
          <p:cNvSpPr/>
          <p:nvPr/>
        </p:nvSpPr>
        <p:spPr>
          <a:xfrm>
            <a:off x="868680" y="19019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pinned on Google Maps — see what's 200m away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4572000" y="1572768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72000" y="1572768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4709160" y="170078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161" name="Text 159"/>
          <p:cNvSpPr/>
          <p:nvPr/>
        </p:nvSpPr>
        <p:spPr>
          <a:xfrm>
            <a:off x="5074920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AI Smart Search</a:t>
            </a:r>
            <a:endParaRPr lang="en-US" sz="1050" dirty="0"/>
          </a:p>
        </p:txBody>
      </p:sp>
      <p:sp>
        <p:nvSpPr>
          <p:cNvPr id="162" name="Text 160"/>
          <p:cNvSpPr/>
          <p:nvPr/>
        </p:nvSpPr>
        <p:spPr>
          <a:xfrm>
            <a:off x="5074920" y="19019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'Something to hang a picture' → finds drill &amp; anchors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365760" y="2322576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BF5AF2">
                <a:alpha val="4000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65760" y="2322576"/>
            <a:ext cx="54864" cy="640080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502920" y="2450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💬</a:t>
            </a:r>
            <a:endParaRPr lang="en-US" sz="1500" dirty="0"/>
          </a:p>
        </p:txBody>
      </p:sp>
      <p:sp>
        <p:nvSpPr>
          <p:cNvPr id="166" name="Text 164"/>
          <p:cNvSpPr/>
          <p:nvPr/>
        </p:nvSpPr>
        <p:spPr>
          <a:xfrm>
            <a:off x="868680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F5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Chat</a:t>
            </a:r>
            <a:endParaRPr lang="en-US" sz="1050" dirty="0"/>
          </a:p>
        </p:txBody>
      </p:sp>
      <p:sp>
        <p:nvSpPr>
          <p:cNvPr id="167" name="Text 165"/>
          <p:cNvSpPr/>
          <p:nvPr/>
        </p:nvSpPr>
        <p:spPr>
          <a:xfrm>
            <a:off x="868680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with Google Maps pickup pin sharing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4572000" y="2322576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FFD60A">
                <a:alpha val="4000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572000" y="2322576"/>
            <a:ext cx="54864" cy="64008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709160" y="245059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171" name="Text 169"/>
          <p:cNvSpPr/>
          <p:nvPr/>
        </p:nvSpPr>
        <p:spPr>
          <a:xfrm>
            <a:off x="5074920" y="23957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Score System</a:t>
            </a:r>
            <a:endParaRPr lang="en-US" sz="1050" dirty="0"/>
          </a:p>
        </p:txBody>
      </p:sp>
      <p:sp>
        <p:nvSpPr>
          <p:cNvPr id="172" name="Text 170"/>
          <p:cNvSpPr/>
          <p:nvPr/>
        </p:nvSpPr>
        <p:spPr>
          <a:xfrm>
            <a:off x="5074920" y="26517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Platinum badges built from real transactions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365760" y="3072384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65760" y="3072384"/>
            <a:ext cx="54864" cy="6400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502920" y="3200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176" name="Text 174"/>
          <p:cNvSpPr/>
          <p:nvPr/>
        </p:nvSpPr>
        <p:spPr>
          <a:xfrm>
            <a:off x="868680" y="31455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Escrow Payments</a:t>
            </a:r>
            <a:endParaRPr lang="en-US" sz="1050" dirty="0"/>
          </a:p>
        </p:txBody>
      </p:sp>
      <p:sp>
        <p:nvSpPr>
          <p:cNvPr id="177" name="Text 175"/>
          <p:cNvSpPr/>
          <p:nvPr/>
        </p:nvSpPr>
        <p:spPr>
          <a:xfrm>
            <a:off x="868680" y="3401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held until safe return — zero fraud risk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4572000" y="3072384"/>
            <a:ext cx="4023360" cy="640080"/>
          </a:xfrm>
          <a:prstGeom prst="rect">
            <a:avLst/>
          </a:prstGeom>
          <a:solidFill>
            <a:srgbClr val="13131E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572000" y="3072384"/>
            <a:ext cx="54864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709160" y="32004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🎓</a:t>
            </a:r>
            <a:endParaRPr lang="en-US" sz="1500" dirty="0"/>
          </a:p>
        </p:txBody>
      </p:sp>
      <p:sp>
        <p:nvSpPr>
          <p:cNvPr id="181" name="Text 179"/>
          <p:cNvSpPr/>
          <p:nvPr/>
        </p:nvSpPr>
        <p:spPr>
          <a:xfrm>
            <a:off x="5074920" y="31455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Exchange</a:t>
            </a:r>
            <a:endParaRPr lang="en-US" sz="1050" dirty="0"/>
          </a:p>
        </p:txBody>
      </p:sp>
      <p:sp>
        <p:nvSpPr>
          <p:cNvPr id="182" name="Text 180"/>
          <p:cNvSpPr/>
          <p:nvPr/>
        </p:nvSpPr>
        <p:spPr>
          <a:xfrm>
            <a:off x="5074920" y="34015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Plumbing, tutoring, music lessons — not just items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65760" y="4736592"/>
            <a:ext cx="8549640" cy="210312"/>
          </a:xfrm>
          <a:prstGeom prst="rect">
            <a:avLst/>
          </a:prstGeom>
          <a:solidFill>
            <a:srgbClr val="BF5AF2">
              <a:alpha val="10000"/>
            </a:srgbClr>
          </a:solidFill>
          <a:ln w="12700">
            <a:solidFill>
              <a:srgbClr val="BF5AF2">
                <a:alpha val="45000"/>
              </a:srgbClr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502920" y="4736592"/>
            <a:ext cx="8321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Solved:   ✓ Trust between strangers   ✓ Payment safety   ✓ Discovering what's nearby   ✓ Reducing urban waste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FFD60A">
              <a:alpha val="40000"/>
            </a:srgbClr>
          </a:solidFill>
          <a:ln w="12700">
            <a:solidFill>
              <a:srgbClr val="FFD60A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315200" y="-457200"/>
            <a:ext cx="3657600" cy="3657600"/>
          </a:xfrm>
          <a:prstGeom prst="ellipse">
            <a:avLst/>
          </a:prstGeom>
          <a:solidFill>
            <a:srgbClr val="FFD60A">
              <a:alpha val="6000"/>
            </a:srgbClr>
          </a:solidFill>
          <a:ln w="12700">
            <a:solidFill>
              <a:srgbClr val="FFD60A">
                <a:alpha val="6000"/>
              </a:srgbClr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07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47548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revenue streams,</a:t>
            </a:r>
            <a:endParaRPr lang="en-US" sz="3000" dirty="0"/>
          </a:p>
        </p:txBody>
      </p:sp>
      <p:sp>
        <p:nvSpPr>
          <p:cNvPr id="152" name="Text 150"/>
          <p:cNvSpPr/>
          <p:nvPr/>
        </p:nvSpPr>
        <p:spPr>
          <a:xfrm>
            <a:off x="365760" y="92354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inventory.</a:t>
            </a:r>
            <a:endParaRPr lang="en-US" sz="3000" dirty="0"/>
          </a:p>
        </p:txBody>
      </p:sp>
      <p:sp>
        <p:nvSpPr>
          <p:cNvPr id="153" name="Shape 151"/>
          <p:cNvSpPr/>
          <p:nvPr/>
        </p:nvSpPr>
        <p:spPr>
          <a:xfrm>
            <a:off x="365760" y="1572768"/>
            <a:ext cx="2011680" cy="214884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65760" y="1572768"/>
            <a:ext cx="2011680" cy="640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475488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56" name="Text 154"/>
          <p:cNvSpPr/>
          <p:nvPr/>
        </p:nvSpPr>
        <p:spPr>
          <a:xfrm>
            <a:off x="475488" y="21396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600" dirty="0"/>
          </a:p>
        </p:txBody>
      </p:sp>
      <p:sp>
        <p:nvSpPr>
          <p:cNvPr id="157" name="Text 155"/>
          <p:cNvSpPr/>
          <p:nvPr/>
        </p:nvSpPr>
        <p:spPr>
          <a:xfrm>
            <a:off x="475488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Fee</a:t>
            </a:r>
            <a:endParaRPr lang="en-US" sz="1050" dirty="0"/>
          </a:p>
        </p:txBody>
      </p:sp>
      <p:sp>
        <p:nvSpPr>
          <p:cNvPr id="158" name="Text 156"/>
          <p:cNvSpPr/>
          <p:nvPr/>
        </p:nvSpPr>
        <p:spPr>
          <a:xfrm>
            <a:off x="475488" y="28712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takes 10% of every borrow. Scales directly with GMV.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2542032" y="1572768"/>
            <a:ext cx="2011680" cy="2148840"/>
          </a:xfrm>
          <a:prstGeom prst="rect">
            <a:avLst/>
          </a:prstGeom>
          <a:solidFill>
            <a:srgbClr val="1313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542032" y="1572768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651760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62" name="Text 160"/>
          <p:cNvSpPr/>
          <p:nvPr/>
        </p:nvSpPr>
        <p:spPr>
          <a:xfrm>
            <a:off x="2651760" y="21396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₹99/mo</a:t>
            </a:r>
            <a:endParaRPr lang="en-US" sz="2600" dirty="0"/>
          </a:p>
        </p:txBody>
      </p:sp>
      <p:sp>
        <p:nvSpPr>
          <p:cNvPr id="163" name="Text 161"/>
          <p:cNvSpPr/>
          <p:nvPr/>
        </p:nvSpPr>
        <p:spPr>
          <a:xfrm>
            <a:off x="2651760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 Lender</a:t>
            </a:r>
            <a:endParaRPr lang="en-US" sz="1050" dirty="0"/>
          </a:p>
        </p:txBody>
      </p:sp>
      <p:sp>
        <p:nvSpPr>
          <p:cNvPr id="164" name="Text 162"/>
          <p:cNvSpPr/>
          <p:nvPr/>
        </p:nvSpPr>
        <p:spPr>
          <a:xfrm>
            <a:off x="2651760" y="28712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listings, priority placement, analytics dashboard.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4718304" y="1572768"/>
            <a:ext cx="2011680" cy="2148840"/>
          </a:xfrm>
          <a:prstGeom prst="rect">
            <a:avLst/>
          </a:prstGeom>
          <a:solidFill>
            <a:srgbClr val="13131E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718304" y="1572768"/>
            <a:ext cx="2011680" cy="64008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4828032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🏘️</a:t>
            </a:r>
            <a:endParaRPr lang="en-US" sz="2000" dirty="0"/>
          </a:p>
        </p:txBody>
      </p:sp>
      <p:sp>
        <p:nvSpPr>
          <p:cNvPr id="168" name="Text 166"/>
          <p:cNvSpPr/>
          <p:nvPr/>
        </p:nvSpPr>
        <p:spPr>
          <a:xfrm>
            <a:off x="4828032" y="21396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F5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₹499/mo</a:t>
            </a:r>
            <a:endParaRPr lang="en-US" sz="2600" dirty="0"/>
          </a:p>
        </p:txBody>
      </p:sp>
      <p:sp>
        <p:nvSpPr>
          <p:cNvPr id="169" name="Text 167"/>
          <p:cNvSpPr/>
          <p:nvPr/>
        </p:nvSpPr>
        <p:spPr>
          <a:xfrm>
            <a:off x="4828032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Society Plan</a:t>
            </a:r>
            <a:endParaRPr lang="en-US" sz="1050" dirty="0"/>
          </a:p>
        </p:txBody>
      </p:sp>
      <p:sp>
        <p:nvSpPr>
          <p:cNvPr id="170" name="Text 168"/>
          <p:cNvSpPr/>
          <p:nvPr/>
        </p:nvSpPr>
        <p:spPr>
          <a:xfrm>
            <a:off x="4828032" y="28712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RWAs &amp; housing societies get branded portal + admin panel.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6894576" y="1572768"/>
            <a:ext cx="2011680" cy="2148840"/>
          </a:xfrm>
          <a:prstGeom prst="rect">
            <a:avLst/>
          </a:prstGeom>
          <a:solidFill>
            <a:srgbClr val="13131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894576" y="1572768"/>
            <a:ext cx="2011680" cy="6400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7004304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74" name="Text 172"/>
          <p:cNvSpPr/>
          <p:nvPr/>
        </p:nvSpPr>
        <p:spPr>
          <a:xfrm>
            <a:off x="7004304" y="2139696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Ads</a:t>
            </a:r>
            <a:endParaRPr lang="en-US" sz="2600" dirty="0"/>
          </a:p>
        </p:txBody>
      </p:sp>
      <p:sp>
        <p:nvSpPr>
          <p:cNvPr id="175" name="Text 173"/>
          <p:cNvSpPr/>
          <p:nvPr/>
        </p:nvSpPr>
        <p:spPr>
          <a:xfrm>
            <a:off x="7004304" y="261518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Business</a:t>
            </a:r>
            <a:endParaRPr lang="en-US" sz="1050" dirty="0"/>
          </a:p>
        </p:txBody>
      </p:sp>
      <p:sp>
        <p:nvSpPr>
          <p:cNvPr id="176" name="Text 174"/>
          <p:cNvSpPr/>
          <p:nvPr/>
        </p:nvSpPr>
        <p:spPr>
          <a:xfrm>
            <a:off x="7004304" y="2871216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stores &amp; repair shops appear in relevant searches.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65760" y="3858768"/>
            <a:ext cx="2011680" cy="658368"/>
          </a:xfrm>
          <a:prstGeom prst="rect">
            <a:avLst/>
          </a:prstGeom>
          <a:solidFill>
            <a:srgbClr val="BF5AF2">
              <a:alpha val="10000"/>
            </a:srgbClr>
          </a:solidFill>
          <a:ln w="12700">
            <a:solidFill>
              <a:srgbClr val="BF5AF2">
                <a:alpha val="45000"/>
              </a:srgbClr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75488" y="38953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F5A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₹40,000 Cr</a:t>
            </a:r>
            <a:endParaRPr lang="en-US" sz="1800" dirty="0"/>
          </a:p>
        </p:txBody>
      </p:sp>
      <p:sp>
        <p:nvSpPr>
          <p:cNvPr id="179" name="Text 177"/>
          <p:cNvSpPr/>
          <p:nvPr/>
        </p:nvSpPr>
        <p:spPr>
          <a:xfrm>
            <a:off x="475488" y="41696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 (TAM)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2542032" y="3858768"/>
            <a:ext cx="2011680" cy="658368"/>
          </a:xfrm>
          <a:prstGeom prst="rect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2651760" y="38953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₹8,000 Cr</a:t>
            </a:r>
            <a:endParaRPr lang="en-US" sz="1800" dirty="0"/>
          </a:p>
        </p:txBody>
      </p:sp>
      <p:sp>
        <p:nvSpPr>
          <p:cNvPr id="182" name="Text 180"/>
          <p:cNvSpPr/>
          <p:nvPr/>
        </p:nvSpPr>
        <p:spPr>
          <a:xfrm>
            <a:off x="2651760" y="41696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(SAM)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4718304" y="3858768"/>
            <a:ext cx="2011680" cy="658368"/>
          </a:xfrm>
          <a:prstGeom prst="rect">
            <a:avLst/>
          </a:prstGeom>
          <a:solidFill>
            <a:srgbClr val="00FF88">
              <a:alpha val="10000"/>
            </a:srgbClr>
          </a:solidFill>
          <a:ln w="1270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4828032" y="38953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₹120 Cr</a:t>
            </a:r>
            <a:endParaRPr lang="en-US" sz="1800" dirty="0"/>
          </a:p>
        </p:txBody>
      </p:sp>
      <p:sp>
        <p:nvSpPr>
          <p:cNvPr id="185" name="Text 183"/>
          <p:cNvSpPr/>
          <p:nvPr/>
        </p:nvSpPr>
        <p:spPr>
          <a:xfrm>
            <a:off x="4828032" y="41696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 (SOM)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6894576" y="3858768"/>
            <a:ext cx="2011680" cy="658368"/>
          </a:xfrm>
          <a:prstGeom prst="rect">
            <a:avLst/>
          </a:prstGeom>
          <a:solidFill>
            <a:srgbClr val="FFD60A">
              <a:alpha val="10000"/>
            </a:srgbClr>
          </a:solidFill>
          <a:ln w="12700">
            <a:solidFill>
              <a:srgbClr val="FFD60A">
                <a:alpha val="45000"/>
              </a:srgbClr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004304" y="3895344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1800" dirty="0"/>
          </a:p>
        </p:txBody>
      </p:sp>
      <p:sp>
        <p:nvSpPr>
          <p:cNvPr id="188" name="Text 186"/>
          <p:cNvSpPr/>
          <p:nvPr/>
        </p:nvSpPr>
        <p:spPr>
          <a:xfrm>
            <a:off x="7004304" y="4169664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Gross Margin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6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965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572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4787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2394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001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7608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0376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6448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9144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4358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4787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001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8232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0376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56448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520" y="66751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4358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1965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9572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7180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4787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2394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001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8232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04304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80376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732520" y="124358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44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751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4358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1965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9572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97180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4787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2394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0001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27608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5216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28232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0376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56448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181965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44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751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4358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9572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7180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4787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394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0001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7608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5216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28232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004304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580376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156448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732520" y="2395728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6751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4358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1965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39572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7180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4787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2394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0001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27608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5216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28232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4304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80376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56448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32520" y="2971800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44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751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24358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1965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39572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97180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54787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2394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0001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27608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5216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28232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004304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580376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56448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732520" y="3547872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144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6751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24358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1965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39572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7180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4787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2394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70001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7608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5216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428232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004304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580376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156448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732520" y="4123944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144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751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24358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1965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9572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97180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354787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12394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0001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27608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85216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28232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004304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580376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156448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32520" y="4700016"/>
            <a:ext cx="27432" cy="27432"/>
          </a:xfrm>
          <a:prstGeom prst="ellipse">
            <a:avLst/>
          </a:prstGeom>
          <a:solidFill>
            <a:srgbClr val="00FF88">
              <a:alpha val="8000"/>
            </a:srgbClr>
          </a:solidFill>
          <a:ln w="12700">
            <a:solidFill>
              <a:srgbClr val="00FF88">
                <a:alpha val="800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37160" y="5029200"/>
            <a:ext cx="9006840" cy="22860"/>
          </a:xfrm>
          <a:prstGeom prst="rect">
            <a:avLst/>
          </a:prstGeom>
          <a:solidFill>
            <a:srgbClr val="00FF88">
              <a:alpha val="40000"/>
            </a:srgbClr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57600" y="1371600"/>
            <a:ext cx="4572000" cy="4572000"/>
          </a:xfrm>
          <a:prstGeom prst="ellipse">
            <a:avLst/>
          </a:prstGeom>
          <a:solidFill>
            <a:srgbClr val="00FF88">
              <a:alpha val="6000"/>
            </a:srgbClr>
          </a:solidFill>
          <a:ln w="12700">
            <a:solidFill>
              <a:srgbClr val="00FF88">
                <a:alpha val="600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0D4FF">
              <a:alpha val="7000"/>
            </a:srgbClr>
          </a:solidFill>
          <a:ln w="12700">
            <a:solidFill>
              <a:srgbClr val="00D4FF">
                <a:alpha val="7000"/>
              </a:srgbClr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046720" y="16459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5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/  07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365760" y="1645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3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NEIGHBORSHARE WINS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365760" y="43891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moat isn't code.</a:t>
            </a:r>
            <a:endParaRPr lang="en-US" sz="2800" dirty="0"/>
          </a:p>
        </p:txBody>
      </p:sp>
      <p:sp>
        <p:nvSpPr>
          <p:cNvPr id="153" name="Text 151"/>
          <p:cNvSpPr/>
          <p:nvPr/>
        </p:nvSpPr>
        <p:spPr>
          <a:xfrm>
            <a:off x="365760" y="85953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It's trust — and trust can't be copy-pasted.</a:t>
            </a:r>
            <a:endParaRPr lang="en-US" sz="2200" dirty="0"/>
          </a:p>
        </p:txBody>
      </p:sp>
      <p:sp>
        <p:nvSpPr>
          <p:cNvPr id="154" name="Shape 152"/>
          <p:cNvSpPr/>
          <p:nvPr/>
        </p:nvSpPr>
        <p:spPr>
          <a:xfrm>
            <a:off x="365760" y="1572768"/>
            <a:ext cx="4114800" cy="1188720"/>
          </a:xfrm>
          <a:prstGeom prst="rect">
            <a:avLst/>
          </a:prstGeom>
          <a:solidFill>
            <a:srgbClr val="13131E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65760" y="1572768"/>
            <a:ext cx="41148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93776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3776" y="1865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Hyper-Local by Design</a:t>
            </a:r>
            <a:endParaRPr lang="en-US" sz="1300" dirty="0"/>
          </a:p>
        </p:txBody>
      </p:sp>
      <p:sp>
        <p:nvSpPr>
          <p:cNvPr id="158" name="Text 156"/>
          <p:cNvSpPr/>
          <p:nvPr/>
        </p:nvSpPr>
        <p:spPr>
          <a:xfrm>
            <a:off x="493776" y="21214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GPS-locked to 2km means every listing is walkable distance. OLX has India. We have your colony.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3017520" y="1645920"/>
            <a:ext cx="1335024" cy="201168"/>
          </a:xfrm>
          <a:prstGeom prst="roundRect">
            <a:avLst>
              <a:gd name="adj" fmla="val 18182"/>
            </a:avLst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017520" y="1636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OLX: city-wide noise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4663440" y="1572768"/>
            <a:ext cx="4114800" cy="1188720"/>
          </a:xfrm>
          <a:prstGeom prst="rect">
            <a:avLst/>
          </a:prstGeom>
          <a:solidFill>
            <a:srgbClr val="13131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663440" y="1572768"/>
            <a:ext cx="41148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791456" y="166420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4791456" y="18653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at the Core</a:t>
            </a:r>
            <a:endParaRPr lang="en-US" sz="1300" dirty="0"/>
          </a:p>
        </p:txBody>
      </p:sp>
      <p:sp>
        <p:nvSpPr>
          <p:cNvPr id="165" name="Text 163"/>
          <p:cNvSpPr/>
          <p:nvPr/>
        </p:nvSpPr>
        <p:spPr>
          <a:xfrm>
            <a:off x="4791456" y="21214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listings, interprets natural language search &amp; suggests fair prices — reducing friction to zero.</a:t>
            </a:r>
            <a:endParaRPr lang="en-US" sz="900" dirty="0"/>
          </a:p>
        </p:txBody>
      </p:sp>
      <p:sp>
        <p:nvSpPr>
          <p:cNvPr id="166" name="Shape 164"/>
          <p:cNvSpPr/>
          <p:nvPr/>
        </p:nvSpPr>
        <p:spPr>
          <a:xfrm>
            <a:off x="7315200" y="1645920"/>
            <a:ext cx="1335024" cy="201168"/>
          </a:xfrm>
          <a:prstGeom prst="roundRect">
            <a:avLst>
              <a:gd name="adj" fmla="val 18182"/>
            </a:avLst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315200" y="163677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Facebook Groups: manual chaos</a:t>
            </a:r>
            <a:endParaRPr lang="en-US" sz="700" dirty="0"/>
          </a:p>
        </p:txBody>
      </p:sp>
      <p:sp>
        <p:nvSpPr>
          <p:cNvPr id="168" name="Shape 166"/>
          <p:cNvSpPr/>
          <p:nvPr/>
        </p:nvSpPr>
        <p:spPr>
          <a:xfrm>
            <a:off x="365760" y="2898648"/>
            <a:ext cx="4114800" cy="1188720"/>
          </a:xfrm>
          <a:prstGeom prst="rect">
            <a:avLst/>
          </a:prstGeom>
          <a:solidFill>
            <a:srgbClr val="13131E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65760" y="2898648"/>
            <a:ext cx="4114800" cy="54864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93776" y="2990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493776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Escrow-Protected Trust</a:t>
            </a:r>
            <a:endParaRPr lang="en-US" sz="1300" dirty="0"/>
          </a:p>
        </p:txBody>
      </p:sp>
      <p:sp>
        <p:nvSpPr>
          <p:cNvPr id="172" name="Text 170"/>
          <p:cNvSpPr/>
          <p:nvPr/>
        </p:nvSpPr>
        <p:spPr>
          <a:xfrm>
            <a:off x="493776" y="34472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holds deposit until confirmed return. Lender earns, borrower is protected. First in India at colony scale.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3017520" y="2971800"/>
            <a:ext cx="1335024" cy="201168"/>
          </a:xfrm>
          <a:prstGeom prst="roundRect">
            <a:avLst>
              <a:gd name="adj" fmla="val 18182"/>
            </a:avLst>
          </a:prstGeom>
          <a:solidFill>
            <a:srgbClr val="BF5AF2">
              <a:alpha val="12000"/>
            </a:srgbClr>
          </a:solidFill>
          <a:ln w="12700">
            <a:solidFill>
              <a:srgbClr val="BF5AF2">
                <a:alpha val="50000"/>
              </a:srgbClr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017520" y="296265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F5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WhatsApp: zero financial safety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4663440" y="2898648"/>
            <a:ext cx="4114800" cy="1188720"/>
          </a:xfrm>
          <a:prstGeom prst="rect">
            <a:avLst/>
          </a:prstGeom>
          <a:solidFill>
            <a:srgbClr val="13131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663440" y="2898648"/>
            <a:ext cx="4114800" cy="54864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791456" y="29900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178" name="Text 176"/>
          <p:cNvSpPr/>
          <p:nvPr/>
        </p:nvSpPr>
        <p:spPr>
          <a:xfrm>
            <a:off x="4791456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Effect Moat</a:t>
            </a:r>
            <a:endParaRPr lang="en-US" sz="1300" dirty="0"/>
          </a:p>
        </p:txBody>
      </p:sp>
      <p:sp>
        <p:nvSpPr>
          <p:cNvPr id="179" name="Text 177"/>
          <p:cNvSpPr/>
          <p:nvPr/>
        </p:nvSpPr>
        <p:spPr>
          <a:xfrm>
            <a:off x="4791456" y="34472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active users per colony = self-sustaining loop. Each item listed attracts borrowers, each borrow builds trust, trust attracts more lenders.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7315200" y="2971800"/>
            <a:ext cx="1335024" cy="201168"/>
          </a:xfrm>
          <a:prstGeom prst="roundRect">
            <a:avLst>
              <a:gd name="adj" fmla="val 18182"/>
            </a:avLst>
          </a:prstGeom>
          <a:solidFill>
            <a:srgbClr val="FFD60A">
              <a:alpha val="12000"/>
            </a:srgbClr>
          </a:solidFill>
          <a:ln w="12700">
            <a:solidFill>
              <a:srgbClr val="FFD60A">
                <a:alpha val="50000"/>
              </a:srgbClr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315200" y="296265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Rentickle: no community bond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365760" y="4663440"/>
            <a:ext cx="8549640" cy="274320"/>
          </a:xfrm>
          <a:prstGeom prst="rect">
            <a:avLst/>
          </a:prstGeom>
          <a:solidFill>
            <a:srgbClr val="00FF88">
              <a:alpha val="12000"/>
            </a:srgbClr>
          </a:solidFill>
          <a:ln w="12700">
            <a:solidFill>
              <a:srgbClr val="00FF88">
                <a:alpha val="50000"/>
              </a:srgbClr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0292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 Every neighborhood deserves a sharing economy.  Let's build it together.   —  neighborshare.vercel.app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NeighborShare - Hackathon Presentation</dc:title>
  <dc:subject>PptxGenJS Presentation</dc:subject>
  <dc:creator>PptxGenJS</dc:creator>
  <cp:lastModifiedBy>PptxGenJS</cp:lastModifiedBy>
  <cp:revision>1</cp:revision>
  <dcterms:created xsi:type="dcterms:W3CDTF">2026-03-08T04:54:50Z</dcterms:created>
  <dcterms:modified xsi:type="dcterms:W3CDTF">2026-03-08T04:54:50Z</dcterms:modified>
</cp:coreProperties>
</file>